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 Condensed" panose="020F05020202040302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87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65582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Uber Trip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comprehensive data-driven initiative to understand ride-hailing demand patterns, optimize operations, and enhance customer experiences through advanced analytics and machine learning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04042"/>
            <a:ext cx="74416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Industry Challenges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52982"/>
            <a:ext cx="3664744" cy="3475792"/>
          </a:xfrm>
          <a:prstGeom prst="roundRect">
            <a:avLst>
              <a:gd name="adj" fmla="val 97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179796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Fluctuating Demand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024545"/>
            <a:ext cx="3211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Unpredictable peaks and valleys create resource allocation challenges, leading to driver shortages during high-demand periods and oversupply during slower times.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1952982"/>
            <a:ext cx="3664863" cy="3475792"/>
          </a:xfrm>
          <a:prstGeom prst="roundRect">
            <a:avLst>
              <a:gd name="adj" fmla="val 97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179796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Operational Inefficiencies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024545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Suboptimal routing, pricing strategies, and driver positioning result in longer wait times and reduced profitability across service areas.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55588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882402"/>
            <a:ext cx="41357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Customer Satisfaction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372820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Inconsistent service quality and unpredictable experiences impact user retention and brand loyalty in competitive markets.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65BA1B-DC01-0515-DCBC-912C6EA1CC3B}"/>
              </a:ext>
            </a:extLst>
          </p:cNvPr>
          <p:cNvSpPr/>
          <p:nvPr/>
        </p:nvSpPr>
        <p:spPr>
          <a:xfrm>
            <a:off x="12801599" y="7650865"/>
            <a:ext cx="1805651" cy="555585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66761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6407944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4901"/>
            <a:ext cx="32893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Pattern Discovery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Analyze comprehensive trip data to identify demand patterns, peak usage times, and customer behavior trends across different geographic regions.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840593"/>
            <a:ext cx="6408063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014901"/>
            <a:ext cx="36340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Demand Forecasting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50531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Develop predictive models to anticipate future ride requests, enabling proactive resource allocation and improved service reliability.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520214"/>
            <a:ext cx="44656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Efficiency Optimization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Identify operational bottlenecks and inefficiencies to streamline processes and reduce costs while maintaining service quality.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345906"/>
            <a:ext cx="6408063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520214"/>
            <a:ext cx="38702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Strategic Framework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6010632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Build a comprehensive decision-support system that enables data-informed strategic planning and real-time operational adjustments.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9D548C-6A06-1A88-3A25-953C1BC72006}"/>
              </a:ext>
            </a:extLst>
          </p:cNvPr>
          <p:cNvSpPr/>
          <p:nvPr/>
        </p:nvSpPr>
        <p:spPr>
          <a:xfrm>
            <a:off x="12801599" y="7650865"/>
            <a:ext cx="1805651" cy="555585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62884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420135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Data Attributes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2047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Trip timestamps and duration patterns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6267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Pickup and dropoff location coordinates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0486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Distance traveled and route efficiency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4706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Fare pricing and surge multipliers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58926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Customer demand fluctuations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03146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Driver availability and utilization rates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598438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comprehensive dataset captures real-world ride-hailing operations across multiple markets, providing the foundation for meaningful analysis and actionable insights.</a:t>
            </a:r>
            <a:endParaRPr lang="en-US" sz="1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D0719E-97BF-EEA3-7811-411FBE017DDA}"/>
              </a:ext>
            </a:extLst>
          </p:cNvPr>
          <p:cNvSpPr/>
          <p:nvPr/>
        </p:nvSpPr>
        <p:spPr>
          <a:xfrm>
            <a:off x="12801599" y="7650865"/>
            <a:ext cx="1805651" cy="555585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4074"/>
            <a:ext cx="62430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Data Insights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6481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123498"/>
            <a:ext cx="39051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Peak Demand Windows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1391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Morning rush (7-9 AM) and evening commute (5-7 PM) show 3x higher demand, with Friday nights experiencing the highest surge pricing activation.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326481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123498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Popular Route Corridors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96824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Airport connections and business district routes account for 35% of total revenue, despite representing only 15% of trip volume.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326481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123498"/>
            <a:ext cx="32905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Seasonal Patterns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61391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Holiday periods show 40% increased demand, while summer months demonstrate consistent growth in leisure-related trips to entertainment districts.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A5DF9-8FE0-456C-9E7A-FBF27CFA30D7}"/>
              </a:ext>
            </a:extLst>
          </p:cNvPr>
          <p:cNvSpPr/>
          <p:nvPr/>
        </p:nvSpPr>
        <p:spPr>
          <a:xfrm>
            <a:off x="12801599" y="7650865"/>
            <a:ext cx="1805651" cy="555585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471" y="1056799"/>
            <a:ext cx="7709059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Methodology &amp; Technical Stack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71" y="2645331"/>
            <a:ext cx="1024890" cy="15091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47267" y="2850237"/>
            <a:ext cx="3163372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Preprocessing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947267" y="3293507"/>
            <a:ext cx="6479262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Cleaned and standardized 2.5M+ trip records using Python and Pandas, handling missing values and outliers to ensure data quality and reliability.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71" y="4154448"/>
            <a:ext cx="1024890" cy="15091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47267" y="4359354"/>
            <a:ext cx="3504248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Exploratory Analysis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947267" y="4802624"/>
            <a:ext cx="6479262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Conducted comprehensive EDA with NumPy and statistical analysis, uncovering hidden patterns in customer behavior and operational performance metrics.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471" y="5663565"/>
            <a:ext cx="1024890" cy="15091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47267" y="5868472"/>
            <a:ext cx="4175284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Visualization &amp; Modeling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947267" y="6311741"/>
            <a:ext cx="6479262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Created interactive dashboards with Matplotlib/Seaborn and deployed machine learning models using scikit-learn for predictive analytics and forecasting.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259" y="433149"/>
            <a:ext cx="9345454" cy="492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Machine Learning Model Performance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1259" y="1319213"/>
            <a:ext cx="3966210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Demand Forecasting Model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551259" y="1772126"/>
            <a:ext cx="6571774" cy="50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Developed a Random Forest ensemble model combining temporal features, weather data, and historical demand patterns to predict hourly trip requests.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1259" y="2531864"/>
            <a:ext cx="3187422" cy="51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92%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160383" y="3248501"/>
            <a:ext cx="1969056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Accuracy Rate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51259" y="3652123"/>
            <a:ext cx="3187422" cy="50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 precision in predicting demand within 15-minute intervals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5492" y="2531864"/>
            <a:ext cx="3187541" cy="51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18%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4544735" y="3248501"/>
            <a:ext cx="1969056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Cost Reduction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935492" y="3652123"/>
            <a:ext cx="3187541" cy="50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Decreased operational costs through optimized driver positioning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012" y="540187"/>
            <a:ext cx="6571774" cy="65717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7292578"/>
            <a:ext cx="6571774" cy="50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Feature engineering included time-based variables, location clustering, and demand momentum indicators, resulting in robust predictions across diverse market conditions.</a:t>
            </a:r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9EEC87-C302-BD63-8F47-7EDA65E30987}"/>
              </a:ext>
            </a:extLst>
          </p:cNvPr>
          <p:cNvSpPr/>
          <p:nvPr/>
        </p:nvSpPr>
        <p:spPr>
          <a:xfrm>
            <a:off x="12801599" y="7650865"/>
            <a:ext cx="1805651" cy="555585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83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0329" y="3184207"/>
            <a:ext cx="9473089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Analytics Platform Features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0329" y="4461986"/>
            <a:ext cx="4250769" cy="3191589"/>
          </a:xfrm>
          <a:prstGeom prst="roundRect">
            <a:avLst>
              <a:gd name="adj" fmla="val 3438"/>
            </a:avLst>
          </a:prstGeom>
          <a:solidFill>
            <a:srgbClr val="E8E8E3"/>
          </a:solidFill>
          <a:ln/>
        </p:spPr>
      </p:sp>
      <p:sp>
        <p:nvSpPr>
          <p:cNvPr id="5" name="Shape 2"/>
          <p:cNvSpPr/>
          <p:nvPr/>
        </p:nvSpPr>
        <p:spPr>
          <a:xfrm>
            <a:off x="730329" y="4439126"/>
            <a:ext cx="4250769" cy="91440"/>
          </a:xfrm>
          <a:prstGeom prst="roundRect">
            <a:avLst>
              <a:gd name="adj" fmla="val 34230"/>
            </a:avLst>
          </a:prstGeom>
          <a:solidFill>
            <a:srgbClr val="C8CAC1"/>
          </a:solidFill>
          <a:ln/>
        </p:spPr>
      </p:sp>
      <p:sp>
        <p:nvSpPr>
          <p:cNvPr id="6" name="Shape 3"/>
          <p:cNvSpPr/>
          <p:nvPr/>
        </p:nvSpPr>
        <p:spPr>
          <a:xfrm>
            <a:off x="2542758" y="4149090"/>
            <a:ext cx="625912" cy="625912"/>
          </a:xfrm>
          <a:prstGeom prst="roundRect">
            <a:avLst>
              <a:gd name="adj" fmla="val 14609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30520" y="4305538"/>
            <a:ext cx="25038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61787" y="4983599"/>
            <a:ext cx="3787854" cy="65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Real-time Demand Visualization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61787" y="5760720"/>
            <a:ext cx="3787854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Interactive heat maps displaying current and predicted demand patterns across service areas, enabling dynamic resource allocation decisions.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89696" y="4461986"/>
            <a:ext cx="4250888" cy="3191589"/>
          </a:xfrm>
          <a:prstGeom prst="roundRect">
            <a:avLst>
              <a:gd name="adj" fmla="val 3438"/>
            </a:avLst>
          </a:prstGeom>
          <a:solidFill>
            <a:srgbClr val="E8E8E3"/>
          </a:solidFill>
          <a:ln/>
        </p:spPr>
      </p:sp>
      <p:sp>
        <p:nvSpPr>
          <p:cNvPr id="11" name="Shape 8"/>
          <p:cNvSpPr/>
          <p:nvPr/>
        </p:nvSpPr>
        <p:spPr>
          <a:xfrm>
            <a:off x="5189696" y="4439126"/>
            <a:ext cx="4250888" cy="91440"/>
          </a:xfrm>
          <a:prstGeom prst="roundRect">
            <a:avLst>
              <a:gd name="adj" fmla="val 34230"/>
            </a:avLst>
          </a:prstGeom>
          <a:solidFill>
            <a:srgbClr val="C8CAC1"/>
          </a:solidFill>
          <a:ln/>
        </p:spPr>
      </p:sp>
      <p:sp>
        <p:nvSpPr>
          <p:cNvPr id="12" name="Shape 9"/>
          <p:cNvSpPr/>
          <p:nvPr/>
        </p:nvSpPr>
        <p:spPr>
          <a:xfrm>
            <a:off x="7002125" y="4149090"/>
            <a:ext cx="625912" cy="625912"/>
          </a:xfrm>
          <a:prstGeom prst="roundRect">
            <a:avLst>
              <a:gd name="adj" fmla="val 14609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189887" y="4305538"/>
            <a:ext cx="25038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5421154" y="4983599"/>
            <a:ext cx="3787973" cy="97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Predictive Forecasting Dashboard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5421154" y="6086713"/>
            <a:ext cx="3787973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24-hour demand predictions with confidence intervals, helping operations teams prepare for expected surges and optimal driver deployment.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49182" y="4461986"/>
            <a:ext cx="4250769" cy="3191589"/>
          </a:xfrm>
          <a:prstGeom prst="roundRect">
            <a:avLst>
              <a:gd name="adj" fmla="val 3438"/>
            </a:avLst>
          </a:prstGeom>
          <a:solidFill>
            <a:srgbClr val="E8E8E3"/>
          </a:solidFill>
          <a:ln/>
        </p:spPr>
      </p:sp>
      <p:sp>
        <p:nvSpPr>
          <p:cNvPr id="17" name="Shape 14"/>
          <p:cNvSpPr/>
          <p:nvPr/>
        </p:nvSpPr>
        <p:spPr>
          <a:xfrm>
            <a:off x="9649182" y="4439126"/>
            <a:ext cx="4250769" cy="91440"/>
          </a:xfrm>
          <a:prstGeom prst="roundRect">
            <a:avLst>
              <a:gd name="adj" fmla="val 34230"/>
            </a:avLst>
          </a:prstGeom>
          <a:solidFill>
            <a:srgbClr val="C8CAC1"/>
          </a:solidFill>
          <a:ln/>
        </p:spPr>
      </p:sp>
      <p:sp>
        <p:nvSpPr>
          <p:cNvPr id="18" name="Shape 15"/>
          <p:cNvSpPr/>
          <p:nvPr/>
        </p:nvSpPr>
        <p:spPr>
          <a:xfrm>
            <a:off x="11461611" y="4149090"/>
            <a:ext cx="625912" cy="625912"/>
          </a:xfrm>
          <a:prstGeom prst="roundRect">
            <a:avLst>
              <a:gd name="adj" fmla="val 14609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1649373" y="4305538"/>
            <a:ext cx="25038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9880640" y="4983599"/>
            <a:ext cx="3787854" cy="65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Performance Analytics Suite</a:t>
            </a:r>
            <a:endParaRPr lang="en-US" sz="2050" dirty="0"/>
          </a:p>
        </p:txBody>
      </p:sp>
      <p:sp>
        <p:nvSpPr>
          <p:cNvPr id="21" name="Text 18"/>
          <p:cNvSpPr/>
          <p:nvPr/>
        </p:nvSpPr>
        <p:spPr>
          <a:xfrm>
            <a:off x="9880640" y="5760720"/>
            <a:ext cx="3787854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Comprehensive KPI tracking including utilization rates, customer satisfaction scores, and revenue optimization recommendations for strategic planning.</a:t>
            </a:r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4BAD90-A6B4-97A0-2369-E142E75271D3}"/>
              </a:ext>
            </a:extLst>
          </p:cNvPr>
          <p:cNvSpPr/>
          <p:nvPr/>
        </p:nvSpPr>
        <p:spPr>
          <a:xfrm>
            <a:off x="12801599" y="7650865"/>
            <a:ext cx="1805651" cy="555585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094" y="589359"/>
            <a:ext cx="11127819" cy="669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Business Impact &amp; Value Creation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531025" y="3080742"/>
            <a:ext cx="2636044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25%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03" y="1741289"/>
            <a:ext cx="3214807" cy="3214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2567" y="5223986"/>
            <a:ext cx="2713077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Growth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0094" y="5687378"/>
            <a:ext cx="4198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Increased revenue through optimized pricing strategies and improved demand-supply matching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997059" y="3080742"/>
            <a:ext cx="2636044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31%</a:t>
            </a:r>
            <a:endParaRPr lang="en-US" sz="4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737" y="1741289"/>
            <a:ext cx="3214807" cy="32148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3911" y="5223986"/>
            <a:ext cx="348245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Wait Time Reduction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216128" y="5687378"/>
            <a:ext cx="419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Faster customer pickup times through predictive driver positioning and route optimization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0463093" y="3080742"/>
            <a:ext cx="2636044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40%</a:t>
            </a:r>
            <a:endParaRPr lang="en-US" sz="4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3772" y="1741289"/>
            <a:ext cx="3214807" cy="32148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55925" y="5223986"/>
            <a:ext cx="305050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Driver Efficiency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9682163" y="5687378"/>
            <a:ext cx="419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Improved driver utilization rates and reduced idle time through data-driven dispatch algorithms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50094" y="6957179"/>
            <a:ext cx="131302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These improvements translate to enhanced customer satisfaction, increased driver earnings, and sustainable competitive advantages in the ride-hailing market through data-driven operational excellence.</a:t>
            </a:r>
            <a:endParaRPr lang="en-US" sz="16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C68F9B-FC2A-0B87-9D62-A26E3DF7A871}"/>
              </a:ext>
            </a:extLst>
          </p:cNvPr>
          <p:cNvSpPr/>
          <p:nvPr/>
        </p:nvSpPr>
        <p:spPr>
          <a:xfrm>
            <a:off x="12801599" y="7650865"/>
            <a:ext cx="1805651" cy="555585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754261"/>
            <a:ext cx="5306973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Roadmap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981670" y="1735931"/>
            <a:ext cx="22860" cy="4481870"/>
          </a:xfrm>
          <a:prstGeom prst="roundRect">
            <a:avLst>
              <a:gd name="adj" fmla="val 139293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197590" y="1963222"/>
            <a:ext cx="636746" cy="22860"/>
          </a:xfrm>
          <a:prstGeom prst="roundRect">
            <a:avLst>
              <a:gd name="adj" fmla="val 139293"/>
            </a:avLst>
          </a:prstGeom>
          <a:solidFill>
            <a:srgbClr val="AEB0A7"/>
          </a:solidFill>
          <a:ln/>
        </p:spPr>
      </p:sp>
      <p:sp>
        <p:nvSpPr>
          <p:cNvPr id="6" name="Shape 3"/>
          <p:cNvSpPr/>
          <p:nvPr/>
        </p:nvSpPr>
        <p:spPr>
          <a:xfrm>
            <a:off x="742890" y="1735931"/>
            <a:ext cx="477560" cy="477560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22424" y="1775639"/>
            <a:ext cx="318373" cy="398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2043113" y="1808798"/>
            <a:ext cx="3717012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Real-time Integration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043113" y="2267783"/>
            <a:ext cx="6357938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Implement live data streams for instantaneous demand prediction and dynamic pricing optimization across all markets.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197590" y="3598664"/>
            <a:ext cx="636746" cy="22860"/>
          </a:xfrm>
          <a:prstGeom prst="roundRect">
            <a:avLst>
              <a:gd name="adj" fmla="val 139293"/>
            </a:avLst>
          </a:prstGeom>
          <a:solidFill>
            <a:srgbClr val="AEB0A7"/>
          </a:solidFill>
          <a:ln/>
        </p:spPr>
      </p:sp>
      <p:sp>
        <p:nvSpPr>
          <p:cNvPr id="11" name="Shape 8"/>
          <p:cNvSpPr/>
          <p:nvPr/>
        </p:nvSpPr>
        <p:spPr>
          <a:xfrm>
            <a:off x="742890" y="3371374"/>
            <a:ext cx="477560" cy="477560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424" y="3411081"/>
            <a:ext cx="318373" cy="398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2043113" y="3444240"/>
            <a:ext cx="4590336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Deep Learning Enhancement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043113" y="3903226"/>
            <a:ext cx="6357938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Deploy neural networks for improved accuracy in complex pattern recognition and multi-variable demand forecasting.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197590" y="5234107"/>
            <a:ext cx="636746" cy="22860"/>
          </a:xfrm>
          <a:prstGeom prst="roundRect">
            <a:avLst>
              <a:gd name="adj" fmla="val 139293"/>
            </a:avLst>
          </a:prstGeom>
          <a:solidFill>
            <a:srgbClr val="AEB0A7"/>
          </a:solidFill>
          <a:ln/>
        </p:spPr>
      </p:sp>
      <p:sp>
        <p:nvSpPr>
          <p:cNvPr id="16" name="Shape 13"/>
          <p:cNvSpPr/>
          <p:nvPr/>
        </p:nvSpPr>
        <p:spPr>
          <a:xfrm>
            <a:off x="742890" y="5006816"/>
            <a:ext cx="477560" cy="477560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22424" y="5046524"/>
            <a:ext cx="318373" cy="398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2043113" y="5079683"/>
            <a:ext cx="2928699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Global Expansion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043113" y="5538668"/>
            <a:ext cx="6357938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Scale analytics framework to multi-city and international markets, enabling cross-regional insights and standardized optimization strategies.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42950" y="6456521"/>
            <a:ext cx="7658100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project establishes a foundation for continuous innovation in ride-hailing analytics, positioning the platform for sustained growth and operational excellence in an evolving mobility landscape.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713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Hubot Sans Bold</vt:lpstr>
      <vt:lpstr>Hubot Sans Light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Md Afrid</cp:lastModifiedBy>
  <cp:revision>2</cp:revision>
  <dcterms:created xsi:type="dcterms:W3CDTF">2025-09-21T10:21:14Z</dcterms:created>
  <dcterms:modified xsi:type="dcterms:W3CDTF">2025-09-21T11:05:53Z</dcterms:modified>
</cp:coreProperties>
</file>